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"/>
            <a:ext cx="10728655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</a:rPr>
              <a:t>ЛАБОРАТОРИЯ · АРХИПЕЛАГ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МОДЕЛЬ ОТРАСЛИ БАС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54B54"/>
                </a:solidFill>
              </a:rPr>
              <a:t>Методика исследования отрасли в условиях неполных данных · Исполняемые спецификации как результат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325880"/>
            <a:ext cx="10728655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1463040"/>
            <a:ext cx="35661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</a:rPr>
              <a:t>ЦЕЛЬ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63040"/>
            <a:ext cx="35661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17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</a:rPr>
              <a:t>ПРИНЦИПЫ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463040"/>
            <a:ext cx="35661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517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</a:rPr>
              <a:t>УЧАСТНИКИ И РОЛИ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01952"/>
            <a:ext cx="54864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84708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121"/>
                </a:solidFill>
              </a:rPr>
              <a:t>Методика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06654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Воспроизводимый алгоритм исследования отрасли от сбора данных до исполняемых утверждений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06624"/>
            <a:ext cx="54864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65176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121"/>
                </a:solidFill>
              </a:rPr>
              <a:t>Параметрическая 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87121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При каком БАС-проникновении поселение становится автономным — доказуемо, не как мнение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11296"/>
            <a:ext cx="54864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45643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121"/>
                </a:solidFill>
              </a:rPr>
              <a:t>Исполняемые спецификации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6758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Каждый claim запускается как тест: RED / GREEN — единственная защита утверждения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15968"/>
            <a:ext cx="54864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26110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121"/>
                </a:solidFill>
              </a:rPr>
              <a:t>Артефакт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80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Отчёт + спека + MCP-инструмент для регулятора, производителя, инвестора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847088"/>
            <a:ext cx="356616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19202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72C4"/>
                </a:solidFill>
              </a:rPr>
              <a:t>Недостаточные данные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13969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Работаем с Росстатом, экспертными оценками, аналогами. Модель итерируется по мере прихода данных — не ждём полной картины.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761488"/>
            <a:ext cx="356616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8346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</a:rPr>
              <a:t>Факторный анализ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05409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Изолируем один параметр (расстояние, климат, тип сервиса) и смотрим, как он меняет систему. Модель = машина мысленных экспериментов.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675888"/>
            <a:ext cx="3566160" cy="36576"/>
          </a:xfrm>
          <a:prstGeom prst="rect">
            <a:avLst/>
          </a:prstGeom>
          <a:solidFill>
            <a:srgbClr val="1B3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7490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98A"/>
                </a:solidFill>
              </a:rPr>
              <a:t>Исполняемость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6849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Каждое утверждение — тест. node spec-runner.mjs — единственный судья. Оспорить можно только параметры, не логику.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4590288"/>
            <a:ext cx="35661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66344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Апофатис честный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88289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Список того, что модель НЕ знает, — часть результата. Это сильнее, чем прятать ограничения.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1847088"/>
            <a:ext cx="3566160" cy="804672"/>
          </a:xfrm>
          <a:prstGeom prst="rect">
            <a:avLst/>
          </a:prstGeom>
          <a:solidFill>
            <a:srgbClr val="F8F8F8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49640" y="1847088"/>
            <a:ext cx="109728" cy="8046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1901952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72C4"/>
                </a:solidFill>
              </a:rPr>
              <a:t>ИССЛЕДОВАТЕЛЬ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139696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Ставит вопросы, формулирует claims, одобряет граничные условия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2807208"/>
            <a:ext cx="3566160" cy="804672"/>
          </a:xfrm>
          <a:prstGeom prst="rect">
            <a:avLst/>
          </a:prstGeom>
          <a:solidFill>
            <a:srgbClr val="F8F8F8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49640" y="2807208"/>
            <a:ext cx="109728" cy="8046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2862072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7D31"/>
                </a:solidFill>
              </a:rPr>
              <a:t>ИНЖЕНЕР ДАННЫХ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099816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Поставляет данные, калибрует параметры, обновляет data/*.json из реальных источников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49640" y="3767328"/>
            <a:ext cx="3566160" cy="804672"/>
          </a:xfrm>
          <a:prstGeom prst="rect">
            <a:avLst/>
          </a:prstGeom>
          <a:solidFill>
            <a:srgbClr val="F8F8F8"/>
          </a:solidFill>
          <a:ln w="6350">
            <a:solidFill>
              <a:srgbClr val="1B3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49640" y="3767328"/>
            <a:ext cx="109728" cy="804672"/>
          </a:xfrm>
          <a:prstGeom prst="rect">
            <a:avLst/>
          </a:prstGeom>
          <a:solidFill>
            <a:srgbClr val="1B3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822192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398A"/>
                </a:solidFill>
              </a:rPr>
              <a:t>АГЕНТ (Мета-КБ)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059936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Запускает спеки, анализирует нарушения (RED → разбор), генерирует следующие гипотезы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4727448"/>
            <a:ext cx="3566160" cy="804672"/>
          </a:xfrm>
          <a:prstGeom prst="rect">
            <a:avLst/>
          </a:prstGeom>
          <a:solidFill>
            <a:srgbClr val="F8F8F8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49640" y="4727448"/>
            <a:ext cx="109728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782312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</a:rPr>
              <a:t>ФАСИЛИТАТОР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5020056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780"/>
                </a:solidFill>
              </a:rPr>
              <a:t>Ведёт витки: задача → рой → спека → собор → следующий виток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1520" y="6537960"/>
            <a:ext cx="1072865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1520" y="6565392"/>
            <a:ext cx="97533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780"/>
                </a:solidFill>
              </a:rPr>
              <a:t>Лаборатория Модель отрасли БАС · КБ ГаврИИл Код · Архипелаг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"/>
            <a:ext cx="10728655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</a:rPr>
              <a:t>ПЛАН РАБОТЫ · СЕМЬ ДНЕЙ + СОЗДАНИЕ ИНСТРУМЕНТОВ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</a:rPr>
              <a:t>От задачи до исполняемой спецификации — с образом результата каждого дня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10728655" cy="0"/>
          </a:xfrm>
          <a:prstGeom prst="line">
            <a:avLst/>
          </a:prstGeom>
          <a:ln w="190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93776" y="996696"/>
            <a:ext cx="475488" cy="475488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НН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25–27 июл</a:t>
            </a:r>
          </a:p>
        </p:txBody>
      </p:sp>
      <p:sp>
        <p:nvSpPr>
          <p:cNvPr id="9" name="Oval 8"/>
          <p:cNvSpPr/>
          <p:nvPr/>
        </p:nvSpPr>
        <p:spPr>
          <a:xfrm>
            <a:off x="2026441" y="996696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6441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Д1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2705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3 авг</a:t>
            </a:r>
          </a:p>
        </p:txBody>
      </p:sp>
      <p:sp>
        <p:nvSpPr>
          <p:cNvPr id="12" name="Oval 11"/>
          <p:cNvSpPr/>
          <p:nvPr/>
        </p:nvSpPr>
        <p:spPr>
          <a:xfrm>
            <a:off x="3559106" y="996696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9106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Д2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5370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4 авг</a:t>
            </a:r>
          </a:p>
        </p:txBody>
      </p:sp>
      <p:sp>
        <p:nvSpPr>
          <p:cNvPr id="15" name="Oval 14"/>
          <p:cNvSpPr/>
          <p:nvPr/>
        </p:nvSpPr>
        <p:spPr>
          <a:xfrm>
            <a:off x="5091771" y="996696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1771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Д3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8035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5 авг</a:t>
            </a:r>
          </a:p>
        </p:txBody>
      </p:sp>
      <p:sp>
        <p:nvSpPr>
          <p:cNvPr id="18" name="Oval 17"/>
          <p:cNvSpPr/>
          <p:nvPr/>
        </p:nvSpPr>
        <p:spPr>
          <a:xfrm>
            <a:off x="6624436" y="996696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4436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Д4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0700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6 авг</a:t>
            </a:r>
          </a:p>
        </p:txBody>
      </p:sp>
      <p:sp>
        <p:nvSpPr>
          <p:cNvPr id="21" name="Oval 20"/>
          <p:cNvSpPr/>
          <p:nvPr/>
        </p:nvSpPr>
        <p:spPr>
          <a:xfrm>
            <a:off x="8157101" y="996696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7101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Д5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3365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7 авг</a:t>
            </a:r>
          </a:p>
        </p:txBody>
      </p:sp>
      <p:sp>
        <p:nvSpPr>
          <p:cNvPr id="24" name="Oval 23"/>
          <p:cNvSpPr/>
          <p:nvPr/>
        </p:nvSpPr>
        <p:spPr>
          <a:xfrm>
            <a:off x="9689766" y="996696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9766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Д6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6030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8 авг</a:t>
            </a:r>
          </a:p>
        </p:txBody>
      </p:sp>
      <p:sp>
        <p:nvSpPr>
          <p:cNvPr id="27" name="Oval 26"/>
          <p:cNvSpPr/>
          <p:nvPr/>
        </p:nvSpPr>
        <p:spPr>
          <a:xfrm>
            <a:off x="11222431" y="99669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22431" y="1060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ИНС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8695" y="1508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07780"/>
                </a:solidFill>
              </a:rPr>
              <a:t>9 авг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83210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72C4"/>
                </a:solidFill>
              </a:rPr>
              <a:t>НН  25–27 июл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4185" y="83210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D7D31"/>
                </a:solidFill>
              </a:rPr>
              <a:t>САРОВ  3–8 авг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832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ИНСТРУМЕНТЫ  9 авг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1581911"/>
            <a:ext cx="8229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54480" y="1581911"/>
            <a:ext cx="4023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1581911"/>
            <a:ext cx="62179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1618487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7780"/>
                </a:solidFill>
              </a:rPr>
              <a:t>ДЕНЬ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1618487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7780"/>
                </a:solidFill>
              </a:rPr>
              <a:t>ЧТО ДЕЛАЕТ ЛАБОРАТОРИЯ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1618487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7780"/>
                </a:solidFill>
              </a:rPr>
              <a:t>ОБРАЗ РЕЗУЛЬТАТА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1874519"/>
            <a:ext cx="822960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2203703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НН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1874519"/>
            <a:ext cx="4023360" cy="1005840"/>
          </a:xfrm>
          <a:prstGeom prst="rect">
            <a:avLst/>
          </a:prstGeom>
          <a:solidFill>
            <a:srgbClr val="F0F5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0" y="1947671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Погрузиться в отрасль: игроки, регуляторика, существующие данные. Сформулировать первый claim.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1874519"/>
            <a:ext cx="6217920" cy="1005840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1929383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Карта игроков рынка и конкурентов (топ-15)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2167127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Реестр регуляторных барьеров (3–5 ключевых)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240487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98A"/>
                </a:solidFill>
              </a:rPr>
              <a:t>▸ Claim №1 сформулирован: "при dist &gt; 70 км БАС выгоден с первого шага"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264261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▸ Первый запуск модели: breakeven для 3 поселений-архетипов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2898647"/>
            <a:ext cx="822960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03580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Д1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289864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0" y="297179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Загрузить реальные данные: Росстат, тарифы дронов, ФАП-статистика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289864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295351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data/russia-settlements.json обновлён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319125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Базовая линия посчитана для 5 регионов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3538727"/>
            <a:ext cx="822960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67588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Д2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54480" y="353872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45920" y="361187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Доказать claim CASCADE@60: структурный скачок при 60% БАС-проникновения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353872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0" y="359359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98A"/>
                </a:solidFill>
              </a:rPr>
              <a:t>▸ bas-industry.spec.mjs :: CASCADE_AT_60 → GREEN (2000 сценариев)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383133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Контрпримеры проанализированы, граница уточнена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4178807"/>
            <a:ext cx="822960" cy="621792"/>
          </a:xfrm>
          <a:prstGeom prst="rect">
            <a:avLst/>
          </a:prstGeom>
          <a:solidFill>
            <a:srgbClr val="E6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31596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Д3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54480" y="417880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5920" y="425195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Территориальная модель: где в России внедрять БАС в первую очередь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417880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0" y="423367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5A00"/>
                </a:solidFill>
              </a:rPr>
              <a:t>▸ ◆ Топ-20 приоритетных территорий · checkpoint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447141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Оптимальное размещение хабов (3 кластера)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4818887"/>
            <a:ext cx="822960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95604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Д4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54480" y="481888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0" y="489203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Системная динамика: 15-летняя симуляция, аттракторы A и 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77840" y="481888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0" y="487375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98A"/>
                </a:solidFill>
              </a:rPr>
              <a:t>▸ 5 архетипов поселений × 3 сценария регулирования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511149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▸ Окно вмешательства: годы 5–8 (максимальный рычаг)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5458967"/>
            <a:ext cx="822960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559612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Д5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" y="545896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45920" y="553211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Политика: 3 регуляторных сценария, меры поддержки, продуктовая карта дронов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545896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0" y="551383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5A00"/>
                </a:solidFill>
              </a:rPr>
              <a:t>▸ ◆ Разница сценариев: 7 лет · checkpoint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575157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</a:rPr>
              <a:t>▸ 3 типа дронов с техническими требованиями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" y="6099047"/>
            <a:ext cx="822960" cy="6217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23620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Д6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54480" y="609904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45920" y="617219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Синтез: Модель отрасли БАС — связная картина для регулятора и производителя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77840" y="609904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0" y="615391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▸ Отраслевой отчёт: утверждения + доказательства + границы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0" y="639165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▸ Пакет передан Лаб 2 и Закрытой лаб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" y="6739127"/>
            <a:ext cx="822960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687628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ИНС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554480" y="6739127"/>
            <a:ext cx="4023360" cy="621792"/>
          </a:xfrm>
          <a:prstGeom prst="rect">
            <a:avLst/>
          </a:prstGeom>
          <a:solidFill>
            <a:srgbClr val="F9F9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920" y="6812279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Финализация инструментов: MCP-сервер, исполняемые спеки, документация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77840" y="6739127"/>
            <a:ext cx="6217920" cy="621792"/>
          </a:xfrm>
          <a:prstGeom prst="rect">
            <a:avLst/>
          </a:prstGeom>
          <a:noFill/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0" y="6793991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▸ bas-industry MCP — 8 инструментов, GREEN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0" y="7031735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398A"/>
                </a:solidFill>
              </a:rPr>
              <a:t>▸ 4 спеки: CASCADE, BREAKEVEN, TRAP, REGULATORY — сданы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7415783"/>
            <a:ext cx="10728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5A00"/>
                </a:solidFill>
              </a:rPr>
              <a:t>◆ контрольная точка — решение принимает человек. Д3: территория, Д5: политика.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31520" y="6583680"/>
            <a:ext cx="1072865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31520" y="6601968"/>
            <a:ext cx="97533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780"/>
                </a:solidFill>
              </a:rPr>
              <a:t>Лаборатория Модель отрасли БАС · КБ ГаврИИл Код · Архипелаг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